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5"/>
    <p:sldId id="267" r:id="rId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746" userDrawn="1">
          <p15:clr>
            <a:srgbClr val="A4A3A4"/>
          </p15:clr>
        </p15:guide>
        <p15:guide id="2" pos="764" userDrawn="1">
          <p15:clr>
            <a:srgbClr val="A4A3A4"/>
          </p15:clr>
        </p15:guide>
      </p15:sldGuideLst>
    </p:ext>
  </p:extLst>
  <p:embeddedFontLst>
    <p:embeddedFont>
      <p:font typeface="Red Hat Display"/>
      <p:regular r:id="rId20"/>
    </p:embeddedFont>
    <p:embeddedFont>
      <p:font typeface="Red Hat Display"/>
      <p:bold r:id="rId21"/>
    </p:embeddedFont>
    <p:embeddedFont>
      <p:font typeface="Red Hat Text"/>
      <p:regular r:id="rId22"/>
    </p:embeddedFont>
    <p:embeddedFont>
      <p:font typeface="Red Hat Text"/>
      <p:bold r:id="rId23"/>
    </p:embeddedFont>
    <p:embeddedFont>
      <p:font typeface="Red Hat Mono"/>
      <p:regular r:id="rId24"/>
    </p:embeddedFont>
    <p:embeddedFont>
      <p:font typeface="Red Hat Mono"/>
      <p:bold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92FF"/>
    <a:srgbClr val="41FDFE"/>
    <a:srgbClr val="10069F"/>
    <a:srgbClr val="7C50FF"/>
    <a:srgbClr val="AEFF10"/>
    <a:srgbClr val="0A0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3" d="100"/>
          <a:sy n="73" d="100"/>
        </p:scale>
        <p:origin x="816" y="216"/>
      </p:cViewPr>
      <p:guideLst>
        <p:guide orient="horz" pos="2746"/>
        <p:guide pos="7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135034F4-F8CB-FFE6-C3D2-FB281750D8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20104100" cy="1131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9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rgbClr val="0A0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56FBBD-37DF-5100-825F-3B5FB5D6F9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5"/>
            <a:ext cx="20104098" cy="113101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0000" y="2020628"/>
            <a:ext cx="13100993" cy="363404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5400" b="1" i="0" dirty="0">
                <a:ln>
                  <a:noFill/>
                </a:ln>
                <a:solidFill>
                  <a:schemeClr val="tx1"/>
                </a:solidFill>
                <a:latin typeface="+mj-lt"/>
                <a:ea typeface="Inter SemiBold" panose="02000503000000020004" pitchFamily="2" charset="0"/>
                <a:cs typeface="Inter SemiBold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0000" y="7200000"/>
            <a:ext cx="13100990" cy="59110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3200" b="1" i="0">
                <a:solidFill>
                  <a:schemeClr val="tx1"/>
                </a:solidFill>
                <a:latin typeface="Arial Nova" panose="020B0504020202020204" pitchFamily="34" charset="0"/>
                <a:cs typeface="Arial Nova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BDDD67-2B19-965A-E954-CA28E5A312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80000" y="7920000"/>
            <a:ext cx="13100991" cy="1228022"/>
          </a:xfrm>
          <a:prstGeom prst="rect">
            <a:avLst/>
          </a:prstGeom>
        </p:spPr>
        <p:txBody>
          <a:bodyPr lIns="0" tIns="0" rIns="0" bIns="0"/>
          <a:lstStyle>
            <a:lvl1pPr marL="0" algn="l">
              <a:defRPr lang="en-US" sz="3200" b="0" i="0" dirty="0" smtClean="0">
                <a:solidFill>
                  <a:schemeClr val="tx1"/>
                </a:solidFill>
                <a:latin typeface="Arial Nova" panose="020B0504020202020204" pitchFamily="34" charset="0"/>
                <a:ea typeface="Inter Light" panose="02000503000000020004" pitchFamily="2" charset="0"/>
                <a:cs typeface="Arial Nova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7F7E0-9158-16BD-6051-2F039C8A606B}"/>
              </a:ext>
            </a:extLst>
          </p:cNvPr>
          <p:cNvSpPr/>
          <p:nvPr userDrawn="1"/>
        </p:nvSpPr>
        <p:spPr>
          <a:xfrm>
            <a:off x="2880000" y="6158732"/>
            <a:ext cx="1843136" cy="7200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2792FF">
                  <a:shade val="67500"/>
                  <a:satMod val="115000"/>
                </a:srgbClr>
              </a:gs>
              <a:gs pos="100000">
                <a:srgbClr val="41FDFE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quired: What We'll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0F5B41-76F8-7FF2-183F-587472A14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5"/>
            <a:ext cx="20104098" cy="11310144"/>
          </a:xfrm>
          <a:prstGeom prst="rect">
            <a:avLst/>
          </a:prstGeom>
        </p:spPr>
      </p:pic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8129250" y="10517696"/>
            <a:ext cx="969646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91C810B0-CE2E-3C0F-5E01-EAB50F6298BA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298390"/>
            <a:ext cx="20104099" cy="1748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2A509C-09BE-E488-7E9E-05652288F570}"/>
              </a:ext>
            </a:extLst>
          </p:cNvPr>
          <p:cNvSpPr txBox="1"/>
          <p:nvPr userDrawn="1"/>
        </p:nvSpPr>
        <p:spPr>
          <a:xfrm>
            <a:off x="1440000" y="1298388"/>
            <a:ext cx="5486398" cy="174863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sz="4400" b="1" i="0" baseline="0" dirty="0">
                <a:ln>
                  <a:noFill/>
                </a:ln>
                <a:solidFill>
                  <a:schemeClr val="bg1"/>
                </a:solidFill>
                <a:latin typeface="+mj-lt"/>
                <a:ea typeface="Inter SemiBold" panose="02000503000000020004" pitchFamily="2" charset="0"/>
                <a:cs typeface="+mj-cs"/>
              </a:rPr>
              <a:t>What We’ll Cover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4FCCA7-2378-7577-68AC-31BC17DC71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0000" y="4206875"/>
            <a:ext cx="17051337" cy="55626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800" spc="-50" baseline="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1pPr>
            <a:lvl2pPr marL="800100" indent="-342900">
              <a:spcBef>
                <a:spcPts val="1000"/>
              </a:spcBef>
              <a:buFont typeface="Arial" panose="020B0604020202020204" pitchFamily="34" charset="0"/>
              <a:buChar char="•"/>
              <a:defRPr sz="2800" spc="-50" baseline="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2pPr>
            <a:lvl3pPr marL="1257300" indent="-342900">
              <a:spcBef>
                <a:spcPts val="1000"/>
              </a:spcBef>
              <a:buFont typeface="System Font Regular"/>
              <a:buChar char="–"/>
              <a:defRPr sz="2800" spc="-50" baseline="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3pPr>
            <a:lvl4pPr>
              <a:spcBef>
                <a:spcPts val="1000"/>
              </a:spcBef>
              <a:defRPr sz="2800" spc="-50" baseline="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4pPr>
            <a:lvl5pPr>
              <a:spcBef>
                <a:spcPts val="1000"/>
              </a:spcBef>
              <a:defRPr sz="2800" spc="-50" baseline="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51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ansi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2E89CD-4C3D-D39A-A90E-93247490B5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5"/>
            <a:ext cx="20104098" cy="11310144"/>
          </a:xfrm>
          <a:prstGeom prst="rect">
            <a:avLst/>
          </a:prstGeom>
        </p:spPr>
      </p:pic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8129250" y="10517696"/>
            <a:ext cx="969646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1" name="Holder 2">
            <a:extLst>
              <a:ext uri="{FF2B5EF4-FFF2-40B4-BE49-F238E27FC236}">
                <a16:creationId xmlns:a16="http://schemas.microsoft.com/office/drawing/2014/main" id="{FF8D2751-A13E-AF46-8233-376412DFAADA}"/>
              </a:ext>
            </a:extLst>
          </p:cNvPr>
          <p:cNvSpPr txBox="1">
            <a:spLocks/>
          </p:cNvSpPr>
          <p:nvPr userDrawn="1"/>
        </p:nvSpPr>
        <p:spPr>
          <a:xfrm>
            <a:off x="2880000" y="2020628"/>
            <a:ext cx="13100993" cy="363404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eaLnBrk="1" hangingPunct="1">
              <a:defRPr sz="5400" b="1" i="0" dirty="0">
                <a:ln>
                  <a:noFill/>
                </a:ln>
                <a:solidFill>
                  <a:schemeClr val="tx1"/>
                </a:solidFill>
                <a:latin typeface="+mj-lt"/>
                <a:ea typeface="Inter SemiBold" panose="02000503000000020004" pitchFamily="2" charset="0"/>
                <a:cs typeface="Inter SemiBold"/>
              </a:defRPr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299CC3-1C47-7920-D7FC-37A5AAFF20CF}"/>
              </a:ext>
            </a:extLst>
          </p:cNvPr>
          <p:cNvSpPr/>
          <p:nvPr userDrawn="1"/>
        </p:nvSpPr>
        <p:spPr>
          <a:xfrm>
            <a:off x="2880000" y="6158732"/>
            <a:ext cx="1843136" cy="7200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2792FF">
                  <a:shade val="67500"/>
                  <a:satMod val="115000"/>
                </a:srgbClr>
              </a:gs>
              <a:gs pos="100000">
                <a:srgbClr val="41FDFE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23010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8129250" y="10517696"/>
            <a:ext cx="969646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EA5A6F-686E-CCF6-EEF4-54E0EE15B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0000" y="4225127"/>
            <a:ext cx="17338675" cy="5544348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1pPr>
            <a:lvl2pPr marL="731520" indent="-457200"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2pPr>
            <a:lvl3pPr marL="1097280" indent="-457200"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3pPr>
            <a:lvl4pPr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4pPr>
            <a:lvl5pPr>
              <a:spcBef>
                <a:spcPts val="1000"/>
              </a:spcBef>
              <a:defRPr lang="en-US" sz="2400" spc="0" baseline="0" dirty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5pPr>
          </a:lstStyle>
          <a:p>
            <a:pPr marL="0" lvl="0" eaLnBrk="1" hangingPunct="1"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0" lvl="1" eaLnBrk="1" hangingPunct="1"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0" lvl="2" eaLnBrk="1" hangingPunct="1"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0" lvl="3" eaLnBrk="1" hangingPunct="1"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0" lvl="4" eaLnBrk="1" hangingPunct="1"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A2DF045-F326-3C96-3642-61782C41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2160000"/>
            <a:ext cx="17527888" cy="1213363"/>
          </a:xfrm>
          <a:prstGeom prst="rect">
            <a:avLst/>
          </a:prstGeom>
        </p:spPr>
        <p:txBody>
          <a:bodyPr/>
          <a:lstStyle>
            <a:lvl1pPr>
              <a:defRPr lang="en-US" sz="4000" b="1" i="0" dirty="0">
                <a:ln>
                  <a:noFill/>
                </a:ln>
                <a:solidFill>
                  <a:schemeClr val="accent1"/>
                </a:solidFill>
                <a:latin typeface="+mj-lt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-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8129250" y="10517696"/>
            <a:ext cx="969646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EA5A6F-686E-CCF6-EEF4-54E0EE15B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0000" y="4225127"/>
            <a:ext cx="8288338" cy="5544348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 spc="0" baseline="0">
                <a:solidFill>
                  <a:schemeClr val="accent1"/>
                </a:solidFill>
                <a:latin typeface="+mn-lt"/>
                <a:ea typeface="Inter" panose="02000503000000020004" pitchFamily="2" charset="0"/>
              </a:defRPr>
            </a:lvl1pPr>
            <a:lvl2pPr marL="548640" indent="-274320">
              <a:spcBef>
                <a:spcPts val="1000"/>
              </a:spcBef>
              <a:buFont typeface="Arial" panose="020B0604020202020204" pitchFamily="34" charset="0"/>
              <a:buChar char="•"/>
              <a:defRPr sz="2400" spc="0" baseline="0">
                <a:solidFill>
                  <a:schemeClr val="accent1"/>
                </a:solidFill>
                <a:latin typeface="+mn-lt"/>
                <a:ea typeface="Inter" panose="02000503000000020004" pitchFamily="2" charset="0"/>
              </a:defRPr>
            </a:lvl2pPr>
            <a:lvl3pPr marL="914400" indent="-274320">
              <a:spcBef>
                <a:spcPts val="1000"/>
              </a:spcBef>
              <a:buFont typeface="System Font Regular"/>
              <a:buChar char="–"/>
              <a:defRPr sz="2400" spc="0" baseline="0">
                <a:solidFill>
                  <a:schemeClr val="accent1"/>
                </a:solidFill>
                <a:latin typeface="+mn-lt"/>
                <a:ea typeface="Inter" panose="02000503000000020004" pitchFamily="2" charset="0"/>
              </a:defRPr>
            </a:lvl3pPr>
            <a:lvl4pPr>
              <a:spcBef>
                <a:spcPts val="1000"/>
              </a:spcBef>
              <a:defRPr sz="2400" spc="0" baseline="0">
                <a:solidFill>
                  <a:schemeClr val="accent1"/>
                </a:solidFill>
                <a:latin typeface="+mn-lt"/>
                <a:ea typeface="Inter" panose="02000503000000020004" pitchFamily="2" charset="0"/>
              </a:defRPr>
            </a:lvl4pPr>
            <a:lvl5pPr>
              <a:spcBef>
                <a:spcPts val="1000"/>
              </a:spcBef>
              <a:defRPr sz="2400" spc="0" baseline="0">
                <a:solidFill>
                  <a:schemeClr val="accent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A2DF045-F326-3C96-3642-61782C41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2160000"/>
            <a:ext cx="17527888" cy="1213363"/>
          </a:xfrm>
          <a:prstGeom prst="rect">
            <a:avLst/>
          </a:prstGeom>
        </p:spPr>
        <p:txBody>
          <a:bodyPr/>
          <a:lstStyle>
            <a:lvl1pPr eaLnBrk="1" hangingPunct="1">
              <a:defRPr lang="en-US" sz="4000" b="1" i="0" dirty="0">
                <a:ln>
                  <a:noFill/>
                </a:ln>
                <a:solidFill>
                  <a:schemeClr val="accent1"/>
                </a:solidFill>
                <a:latin typeface="+mj-lt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1C7D49D-A6FE-9116-C4B4-022FCEBE82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05541" y="4225127"/>
            <a:ext cx="8288338" cy="5544348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1pPr>
            <a:lvl2pPr marL="617220" indent="-342900"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2pPr>
            <a:lvl3pPr marL="982980" indent="-342900"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3pPr>
            <a:lvl4pPr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4pPr>
            <a:lvl5pPr>
              <a:spcBef>
                <a:spcPts val="1000"/>
              </a:spcBef>
              <a:defRPr lang="en-US" sz="2400" spc="0" baseline="0" dirty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5pPr>
          </a:lstStyle>
          <a:p>
            <a:pPr marL="0" lvl="0" eaLnBrk="1" hangingPunct="1"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0" lvl="1" eaLnBrk="1" hangingPunct="1"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0" lvl="2" eaLnBrk="1" hangingPunct="1"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0" lvl="3" eaLnBrk="1" hangingPunct="1"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0" lvl="4" eaLnBrk="1" hangingPunct="1"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3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8129250" y="10517696"/>
            <a:ext cx="969646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EA5A6F-686E-CCF6-EEF4-54E0EE15B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0000" y="4225127"/>
            <a:ext cx="9126851" cy="5544348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1pPr>
            <a:lvl2pPr marL="617220" indent="-342900"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2pPr>
            <a:lvl3pPr marL="982980" indent="-342900"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3pPr>
            <a:lvl4pPr>
              <a:spcBef>
                <a:spcPts val="1000"/>
              </a:spcBef>
              <a:defRPr lang="en-US" sz="2400" spc="0" baseline="0" dirty="0" smtClean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4pPr>
            <a:lvl5pPr>
              <a:spcBef>
                <a:spcPts val="1000"/>
              </a:spcBef>
              <a:defRPr lang="en-US" sz="2400" spc="0" baseline="0" dirty="0">
                <a:solidFill>
                  <a:schemeClr val="accent1"/>
                </a:solidFill>
                <a:latin typeface="+mn-lt"/>
                <a:ea typeface="Inter" panose="02000503000000020004" pitchFamily="2" charset="0"/>
                <a:cs typeface="+mn-cs"/>
              </a:defRPr>
            </a:lvl5pPr>
          </a:lstStyle>
          <a:p>
            <a:pPr marL="0" lvl="0" eaLnBrk="1" hangingPunct="1"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0" lvl="1" eaLnBrk="1" hangingPunct="1"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0" lvl="2" eaLnBrk="1" hangingPunct="1"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0" lvl="3" eaLnBrk="1" hangingPunct="1"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0" lvl="4" eaLnBrk="1" hangingPunct="1"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B00DE22-1452-BD98-846B-84FC5D403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2160000"/>
            <a:ext cx="17338675" cy="1790522"/>
          </a:xfrm>
          <a:prstGeom prst="rect">
            <a:avLst/>
          </a:prstGeom>
        </p:spPr>
        <p:txBody>
          <a:bodyPr/>
          <a:lstStyle>
            <a:lvl1pPr eaLnBrk="1" hangingPunct="1">
              <a:defRPr lang="en-US" sz="4000" b="1" i="0" dirty="0">
                <a:ln>
                  <a:noFill/>
                </a:ln>
                <a:solidFill>
                  <a:schemeClr val="accent1"/>
                </a:solidFill>
                <a:latin typeface="+mj-lt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A0EA1-68A1-D766-2188-20F9134A475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814050" y="4225127"/>
            <a:ext cx="7543800" cy="56205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7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8129250" y="10517696"/>
            <a:ext cx="969646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B00DE22-1452-BD98-846B-84FC5D403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150" y="2160000"/>
            <a:ext cx="17338675" cy="1790522"/>
          </a:xfrm>
          <a:prstGeom prst="rect">
            <a:avLst/>
          </a:prstGeom>
        </p:spPr>
        <p:txBody>
          <a:bodyPr/>
          <a:lstStyle>
            <a:lvl1pPr eaLnBrk="1" hangingPunct="1">
              <a:defRPr lang="en-US" sz="4000" b="1" i="0" dirty="0">
                <a:ln>
                  <a:noFill/>
                </a:ln>
                <a:solidFill>
                  <a:schemeClr val="accent1"/>
                </a:solidFill>
                <a:latin typeface="+mj-lt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98BA1DFE-EB7A-CD15-5E32-5AA5AB91986A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1441450" y="4206875"/>
            <a:ext cx="15030450" cy="5867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00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8129250" y="10517696"/>
            <a:ext cx="969646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1099B-4F56-F2A7-4937-B547B102D8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11275"/>
            <a:ext cx="20104100" cy="99980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6827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8129250" y="10517696"/>
            <a:ext cx="969646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191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BA34C1-8E2C-CFE3-D539-96732A4BF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5"/>
            <a:ext cx="20104098" cy="11310144"/>
          </a:xfrm>
          <a:prstGeom prst="rect">
            <a:avLst/>
          </a:prstGeom>
        </p:spPr>
      </p:pic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8129250" y="10517696"/>
            <a:ext cx="969646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B00DE22-1452-BD98-846B-84FC5D403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545" y="4991839"/>
            <a:ext cx="15087600" cy="1790522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lvl1pPr algn="ctr" eaLnBrk="1" hangingPunct="1">
              <a:defRPr lang="en-US" sz="5400" b="0" i="0" dirty="0">
                <a:ln>
                  <a:noFill/>
                </a:ln>
                <a:solidFill>
                  <a:schemeClr val="bg1"/>
                </a:solidFill>
                <a:latin typeface="+mn-lt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91C810B0-CE2E-3C0F-5E01-EAB50F6298BA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298390"/>
            <a:ext cx="20104099" cy="17486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A226A9-97EA-7932-3AC3-D0472B19B691}"/>
              </a:ext>
            </a:extLst>
          </p:cNvPr>
          <p:cNvSpPr txBox="1"/>
          <p:nvPr userDrawn="1"/>
        </p:nvSpPr>
        <p:spPr>
          <a:xfrm>
            <a:off x="1440000" y="1298388"/>
            <a:ext cx="8077195" cy="174863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sz="4400" b="1" i="0" baseline="0" dirty="0">
                <a:ln>
                  <a:noFill/>
                </a:ln>
                <a:solidFill>
                  <a:schemeClr val="bg1"/>
                </a:solidFill>
                <a:latin typeface="+mj-lt"/>
                <a:ea typeface="Inter SemiBold" panose="02000503000000020004" pitchFamily="2" charset="0"/>
                <a:cs typeface="+mj-cs"/>
              </a:rPr>
              <a:t>Thank you!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310949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A833F1-9CED-7C61-4939-A4CE319C5B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20104098" cy="11310143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F30D89E7-65FB-6A5F-E152-41360677152F}"/>
              </a:ext>
            </a:extLst>
          </p:cNvPr>
          <p:cNvSpPr txBox="1"/>
          <p:nvPr userDrawn="1"/>
        </p:nvSpPr>
        <p:spPr>
          <a:xfrm>
            <a:off x="546994" y="7094835"/>
            <a:ext cx="18938104" cy="684186"/>
          </a:xfrm>
          <a:prstGeom prst="rect">
            <a:avLst/>
          </a:prstGeom>
          <a:ln w="11109">
            <a:noFil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361315" marR="0" lvl="0" indent="0" algn="ctr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46045" algn="l"/>
                <a:tab pos="5134610" algn="l"/>
                <a:tab pos="7070725" algn="l"/>
                <a:tab pos="7946390" algn="l"/>
                <a:tab pos="9032240" algn="l"/>
                <a:tab pos="9641205" algn="l"/>
                <a:tab pos="10208895" algn="l"/>
                <a:tab pos="11258550" algn="l"/>
                <a:tab pos="11852910" algn="l"/>
                <a:tab pos="12682220" algn="l"/>
                <a:tab pos="14229715" algn="l"/>
              </a:tabLst>
              <a:defRPr/>
            </a:pPr>
            <a:r>
              <a:rPr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BE</a:t>
            </a:r>
            <a:r>
              <a:rPr lang="en-US"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 </a:t>
            </a:r>
            <a:r>
              <a:rPr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PART</a:t>
            </a:r>
            <a:r>
              <a:rPr lang="en-US"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 </a:t>
            </a:r>
            <a:r>
              <a:rPr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OF</a:t>
            </a:r>
            <a:r>
              <a:rPr lang="en-US"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 </a:t>
            </a:r>
            <a:r>
              <a:rPr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THE</a:t>
            </a:r>
            <a:r>
              <a:rPr lang="en-US"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 G</a:t>
            </a:r>
            <a:r>
              <a:rPr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LOBAL</a:t>
            </a:r>
            <a:r>
              <a:rPr lang="en-US"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 </a:t>
            </a:r>
            <a:r>
              <a:rPr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COMMUNIT</a:t>
            </a:r>
            <a:r>
              <a:rPr lang="en-US" sz="3200" b="1" spc="100" baseline="0" dirty="0">
                <a:solidFill>
                  <a:srgbClr val="FFFFFF"/>
                </a:solidFill>
                <a:latin typeface="+mj-lt"/>
                <a:cs typeface="Inter"/>
              </a:rPr>
              <a:t>Y. </a:t>
            </a:r>
            <a:r>
              <a:rPr lang="en-US" sz="4400" b="1" spc="100" baseline="0" dirty="0" err="1">
                <a:solidFill>
                  <a:srgbClr val="2792FF"/>
                </a:solidFill>
                <a:latin typeface="+mj-lt"/>
                <a:cs typeface="Inter"/>
              </a:rPr>
              <a:t>sapinsider.org</a:t>
            </a:r>
            <a:endParaRPr lang="en-US" sz="4400" b="0" i="0" baseline="0" dirty="0">
              <a:ln>
                <a:noFill/>
              </a:ln>
              <a:solidFill>
                <a:srgbClr val="2792FF"/>
              </a:solidFill>
              <a:ea typeface="Inter Semi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993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68337074-D6EB-E077-FA2B-3D6592AFDDB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9475"/>
          <a:stretch>
            <a:fillRect/>
          </a:stretch>
        </p:blipFill>
        <p:spPr>
          <a:xfrm flipH="1">
            <a:off x="0" y="-1"/>
            <a:ext cx="20104100" cy="1190179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928850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11185D-9B5C-EC3C-BE8F-ADFC49236C88}"/>
              </a:ext>
            </a:extLst>
          </p:cNvPr>
          <p:cNvSpPr/>
          <p:nvPr userDrawn="1"/>
        </p:nvSpPr>
        <p:spPr>
          <a:xfrm>
            <a:off x="0" y="1122102"/>
            <a:ext cx="20104098" cy="18040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2792FF">
                  <a:shade val="67500"/>
                  <a:satMod val="115000"/>
                </a:srgbClr>
              </a:gs>
              <a:gs pos="100000">
                <a:srgbClr val="41FDFE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pic>
        <p:nvPicPr>
          <p:cNvPr id="9" name="Picture 8" descr="A logo with white text&#10;&#10;AI-generated content may be incorrect.">
            <a:extLst>
              <a:ext uri="{FF2B5EF4-FFF2-40B4-BE49-F238E27FC236}">
                <a16:creationId xmlns:a16="http://schemas.microsoft.com/office/drawing/2014/main" id="{1B6DFB70-79DC-7535-FD90-8F41E411933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8386" y="290462"/>
            <a:ext cx="2314190" cy="5760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2" r:id="rId2"/>
    <p:sldLayoutId id="2147483666" r:id="rId3"/>
    <p:sldLayoutId id="2147483672" r:id="rId4"/>
    <p:sldLayoutId id="2147483665" r:id="rId5"/>
    <p:sldLayoutId id="2147483675" r:id="rId6"/>
    <p:sldLayoutId id="2147483667" r:id="rId7"/>
    <p:sldLayoutId id="2147483668" r:id="rId8"/>
    <p:sldLayoutId id="2147483669" r:id="rId9"/>
    <p:sldLayoutId id="2147483670" r:id="rId10"/>
    <p:sldLayoutId id="2147483674" r:id="rId11"/>
    <p:sldLayoutId id="2147483671" r:id="rId12"/>
  </p:sldLayoutIdLst>
  <p:txStyles>
    <p:titleStyle>
      <a:lvl1pPr eaLnBrk="1" hangingPunct="1">
        <a:defRPr>
          <a:ln>
            <a:noFill/>
          </a:ln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solidFill>
            <a:schemeClr val="accent2"/>
          </a:solidFill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 lang="en-US" sz="5400" dirty="0" b="1">
                <a:latin typeface="Red Hat Display"/>
                <a:solidFill>
                  <a:srgbClr val="FFFFFF"/>
                </a:solidFill>
              </a:rPr>
              <a:t>Reliable SAP with Red Hat</a:t>
            </a:r>
            <a:endParaRPr/>
          </a:p>
          <a:p>
            <a:pPr>
              <a:spcBef>
                <a:spcPts val="800"/>
              </a:spcBef>
            </a:pPr>
            <a:r>
              <a:rPr lang="en-US" sz="5400" dirty="0" b="1">
                <a:latin typeface="Red Hat Display"/>
                <a:solidFill>
                  <a:srgbClr val="EE0000"/>
                </a:solidFill>
              </a:rPr>
              <a:t>Run &amp; Simplify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rPr lang="en-US" sz="1800" dirty="0" b="1">
                <a:latin typeface="Red Hat Text"/>
                <a:solidFill>
                  <a:srgbClr val="FFFFFF"/>
                </a:solidFill>
              </a:rPr>
              <a:t>Jim O'Donnell  ·  Senior Solution Architect, Red Hat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800" dirty="0" b="1">
                <a:latin typeface="Red Hat Display"/>
                <a:solidFill>
                  <a:srgbClr val="FFFFFF"/>
                </a:solidFill>
              </a:rPr>
              <a:t>If your SAP core isn’t steady,</a:t>
            </a:r>
            <a:endParaRPr/>
          </a:p>
          <a:p>
            <a:pPr>
              <a:spcBef>
                <a:spcPts val="400"/>
              </a:spcBef>
            </a:pPr>
            <a:r>
              <a:rPr lang="en-US" sz="4800" dirty="0" b="1">
                <a:latin typeface="Red Hat Display"/>
                <a:solidFill>
                  <a:srgbClr val="EE0000"/>
                </a:solidFill>
              </a:rPr>
              <a:t>nothing else sticks.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600000"/>
            <a:ext cx="1770410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400" dirty="0">
                <a:latin typeface="Red Hat Text"/>
                <a:solidFill>
                  <a:srgbClr val="E0E0E0"/>
                </a:solidFill>
              </a:rPr>
              <a:t>Your RHEL builds differ across landscapes.</a:t>
            </a:r>
            <a:endParaRPr/>
          </a:p>
          <a:p>
            <a:pPr>
              <a:spcBef>
                <a:spcPts val="1600"/>
              </a:spcBef>
            </a:pPr>
            <a:r>
              <a:rPr lang="en-US" sz="2400" dirty="0">
                <a:latin typeface="Red Hat Text"/>
                <a:solidFill>
                  <a:srgbClr val="E0E0E0"/>
                </a:solidFill>
              </a:rPr>
              <a:t>Patching is a quarterly fire drill.</a:t>
            </a:r>
            <a:endParaRPr/>
          </a:p>
          <a:p>
            <a:pPr>
              <a:spcBef>
                <a:spcPts val="1600"/>
              </a:spcBef>
            </a:pPr>
            <a:r>
              <a:rPr lang="en-US" sz="2400" dirty="0">
                <a:latin typeface="Red Hat Text"/>
                <a:solidFill>
                  <a:srgbClr val="E0E0E0"/>
                </a:solidFill>
              </a:rPr>
              <a:t>HA is configured — but never tested.</a:t>
            </a:r>
            <a:endParaRPr/>
          </a:p>
          <a:p>
            <a:pPr>
              <a:spcBef>
                <a:spcPts val="1600"/>
              </a:spcBef>
            </a:pPr>
            <a:r>
              <a:rPr lang="en-US" sz="2400" dirty="0">
                <a:latin typeface="Red Hat Text"/>
                <a:solidFill>
                  <a:srgbClr val="E0E0E0"/>
                </a:solidFill>
              </a:rPr>
              <a:t>Archive tables grow until someone notices.</a:t>
            </a:r>
            <a:endParaRPr/>
          </a:p>
          <a:p>
            <a:pPr>
              <a:spcBef>
                <a:spcPts val="1600"/>
              </a:spcBef>
            </a:pPr>
            <a:r>
              <a:rPr lang="en-US" sz="2400" dirty="0">
                <a:latin typeface="Red Hat Text"/>
                <a:solidFill>
                  <a:srgbClr val="E0E0E0"/>
                </a:solidFill>
              </a:rPr>
              <a:t>Every migration starts by discovering what you actually have.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This talk is about fixing the foundation so you can stop firefighting.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400" dirty="0" b="1">
                <a:latin typeface="Red Hat Display"/>
                <a:solidFill>
                  <a:srgbClr val="EE0000"/>
                </a:solidFill>
              </a:rPr>
              <a:t>RUN  ·  </a:t>
            </a:r>
            <a:r>
              <a:rPr lang="en-US" sz="4400" dirty="0" b="1">
                <a:latin typeface="Red Hat Display"/>
                <a:solidFill>
                  <a:srgbClr val="FFFFFF"/>
                </a:solidFill>
              </a:rPr>
              <a:t>Consistent RHEL Builds for SAP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12000" dirty="0" b="1">
                <a:latin typeface="Red Hat Display"/>
                <a:solidFill>
                  <a:srgbClr val="EE0000"/>
                </a:solidFill>
              </a:rPr>
              <a:t>27</a:t>
            </a:r>
            <a:endParaRPr/>
          </a:p>
          <a:p>
            <a:pPr>
              <a:spcBef>
                <a:spcPts val="40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Years co-engineered with SAP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Red Hat engineers sit in SAP LinuxLab, Walldorf.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They author SAP Notes directly — kernel tuning,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HA configuration, memory management.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5205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SAP’S PREFERRED OS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 b="1">
                <a:latin typeface="Red Hat Display"/>
                <a:solidFill>
                  <a:srgbClr val="FFFFFF"/>
                </a:solidFill>
              </a:rPr>
              <a:t>The preferred OS for net new</a:t>
            </a:r>
            <a:endParaRPr/>
          </a:p>
          <a:p>
            <a:pPr>
              <a:spcBef>
                <a:spcPts val="400"/>
              </a:spcBef>
            </a:pPr>
            <a:r>
              <a:rPr lang="en-US" sz="2200" dirty="0" b="1">
                <a:latin typeface="Red Hat Display"/>
                <a:solidFill>
                  <a:srgbClr val="FFFFFF"/>
                </a:solidFill>
              </a:rPr>
              <a:t>RISE with SAP deployments.</a:t>
            </a:r>
            <a:endParaRPr/>
          </a:p>
          <a:p>
            <a:pPr>
              <a:spcBef>
                <a:spcPts val="6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— SAP, February 2023</a:t>
            </a:r>
            <a:endParaRPr/>
          </a:p>
          <a:p>
            <a:pPr>
              <a:spcBef>
                <a:spcPts val="20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0E0E0"/>
                </a:solidFill>
              </a:rPr>
              <a:t>ONE BUILD. EVERY LANDSCAPE.</a:t>
            </a:r>
            <a:endParaRPr/>
          </a:p>
          <a:p>
            <a:pPr>
              <a:spcBef>
                <a:spcPts val="10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Same RHEL image: AnyPrem, cloud, RISE.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Same System Roles. Same kernel. Same support.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No per-landscape snowflakes.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Not a community promise. A contractual, co-signed commitment.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400" dirty="0" b="1">
                <a:latin typeface="Red Hat Display"/>
                <a:solidFill>
                  <a:srgbClr val="EE0000"/>
                </a:solidFill>
              </a:rPr>
              <a:t>RUN  ·  </a:t>
            </a:r>
            <a:r>
              <a:rPr lang="en-US" sz="4400" dirty="0" b="1">
                <a:latin typeface="Red Hat Display"/>
                <a:solidFill>
                  <a:srgbClr val="FFFFFF"/>
                </a:solidFill>
              </a:rPr>
              <a:t>Predictable Maintenance &amp; Patch Cadence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E0000"/>
                </a:solidFill>
              </a:rPr>
              <a:t>THE PROBLEM</a:t>
            </a:r>
            <a:endParaRPr/>
          </a:p>
          <a:p>
            <a:pPr>
              <a:spcBef>
                <a:spcPts val="120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Patches pile up. Change windows shrink.</a:t>
            </a:r>
            <a:endParaRPr/>
          </a:p>
          <a:p>
            <a:pPr>
              <a:spcBef>
                <a:spcPts val="80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Teams skip updates because testing</a:t>
            </a:r>
            <a:endParaRPr/>
          </a:p>
          <a:p>
            <a:pPr>
              <a:spcBef>
                <a:spcPts val="40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takes longer than the window allows.</a:t>
            </a:r>
            <a:endParaRPr/>
          </a:p>
          <a:p>
            <a:pPr>
              <a:spcBef>
                <a:spcPts val="24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E0000"/>
                </a:solidFill>
              </a:rPr>
              <a:t>THE COST</a:t>
            </a:r>
            <a:endParaRPr/>
          </a:p>
          <a:p>
            <a:pPr>
              <a:spcBef>
                <a:spcPts val="120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Unpatched systems = open CVEs.</a:t>
            </a:r>
            <a:endParaRPr/>
          </a:p>
          <a:p>
            <a:pPr>
              <a:spcBef>
                <a:spcPts val="80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Open CVEs = audit findings.</a:t>
            </a:r>
            <a:endParaRPr/>
          </a:p>
          <a:p>
            <a:pPr>
              <a:spcBef>
                <a:spcPts val="40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Audit findings = weekend fire drills.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5205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THE FIX</a:t>
            </a:r>
            <a:endParaRPr/>
          </a:p>
          <a:p>
            <a:pPr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Kernel Live Patching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CVEs closed while SAP HANA runs.</a:t>
            </a:r>
            <a:endParaRPr/>
          </a:p>
          <a:p>
            <a:pPr>
              <a:spcBef>
                <a:spcPts val="4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No reboot. No downtime. No change window.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Red Hat Satellite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Lifecycle management across every landscape.</a:t>
            </a:r>
            <a:endParaRPr/>
          </a:p>
          <a:p>
            <a:pPr>
              <a:spcBef>
                <a:spcPts val="4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Content views lock versions. Promote when ready.</a:t>
            </a:r>
            <a:endParaRPr/>
          </a:p>
          <a:p>
            <a:pPr>
              <a:spcBef>
                <a:spcPts val="4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Same cadence. Every system. Auditable.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Patching isn’t heroic. It’s a pipeline.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400" dirty="0" b="1">
                <a:latin typeface="Red Hat Display"/>
                <a:solidFill>
                  <a:srgbClr val="EE0000"/>
                </a:solidFill>
              </a:rPr>
              <a:t>RUN  ·  </a:t>
            </a:r>
            <a:r>
              <a:rPr lang="en-US" sz="4400" dirty="0" b="1">
                <a:latin typeface="Red Hat Display"/>
                <a:solidFill>
                  <a:srgbClr val="FFFFFF"/>
                </a:solidFill>
              </a:rPr>
              <a:t>Straightforward HA/DR for SAP HANA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9600" dirty="0" b="1">
                <a:latin typeface="Red Hat Display"/>
                <a:solidFill>
                  <a:srgbClr val="EE0000"/>
                </a:solidFill>
              </a:rPr>
              <a:t>&lt;60s</a:t>
            </a:r>
            <a:endParaRPr/>
          </a:p>
          <a:p>
            <a:pPr>
              <a:spcBef>
                <a:spcPts val="80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Automatic failover. No runbook.</a:t>
            </a:r>
            <a:endParaRPr/>
          </a:p>
          <a:p>
            <a:pPr>
              <a:spcBef>
                <a:spcPts val="20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200" dirty="0" b="1">
                <a:latin typeface="Red Hat Display"/>
                <a:solidFill>
                  <a:srgbClr val="FFFFFF"/>
                </a:solidFill>
              </a:rPr>
              <a:t>Pacemaker. Corosync. STONITH.</a:t>
            </a:r>
            <a:endParaRPr/>
          </a:p>
          <a:p>
            <a:pPr>
              <a:spcBef>
                <a:spcPts val="8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Provider hooks for AWS, Azure, GCP.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Same pattern: on-prem, cloud, RISE.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5205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SAP HA-INTERFACE CERTIFIED</a:t>
            </a:r>
            <a:endParaRPr/>
          </a:p>
          <a:p>
            <a:pPr>
              <a:spcBef>
                <a:spcPts val="10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Tested and certified by SAP.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Not self-declared.</a:t>
            </a:r>
            <a:endParaRPr/>
          </a:p>
          <a:p>
            <a:pPr>
              <a:spcBef>
                <a:spcPts val="20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0E0E0"/>
                </a:solidFill>
              </a:rPr>
              <a:t>WHAT THIS MEANS OPERATIONALLY</a:t>
            </a:r>
            <a:endParaRPr/>
          </a:p>
          <a:p>
            <a:pPr>
              <a:spcBef>
                <a:spcPts val="10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Zero manual steps during failover.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Every state change logged.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Red Hat manages the stack.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SAP manages the data.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The 3am call that never happens.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400" dirty="0" b="1">
                <a:latin typeface="Red Hat Display"/>
                <a:solidFill>
                  <a:srgbClr val="EE0000"/>
                </a:solidFill>
              </a:rPr>
              <a:t>SIMPLIFY  ·  </a:t>
            </a:r>
            <a:r>
              <a:rPr lang="en-US" sz="4400" dirty="0" b="1">
                <a:latin typeface="Red Hat Display"/>
                <a:solidFill>
                  <a:srgbClr val="FFFFFF"/>
                </a:solidFill>
              </a:rPr>
              <a:t>Housekeeping &amp; Archiving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E0000"/>
                </a:solidFill>
              </a:rPr>
              <a:t>THE NOISE</a:t>
            </a:r>
            <a:endParaRPr/>
          </a:p>
          <a:p>
            <a:pPr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Spool tables grow unchecked.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Old transports never cleaned.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Temp data inflates backup windows.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Text"/>
                <a:solidFill>
                  <a:srgbClr val="E0E0E0"/>
                </a:solidFill>
              </a:rPr>
              <a:t>Storage costs drift up 15–20% year over year.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000" dirty="0">
                <a:latin typeface="Red Hat Text"/>
                <a:solidFill>
                  <a:srgbClr val="9B9B9B"/>
                </a:solidFill>
              </a:rPr>
              <a:t>Nobody’s job until it’s everybody’s emergency.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5205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THE FIX</a:t>
            </a:r>
            <a:endParaRPr/>
          </a:p>
          <a:p>
            <a:pPr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Scheduled, automated, boring.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Ansible playbooks for SAP housekeeping:</a:t>
            </a:r>
            <a:endParaRPr/>
          </a:p>
          <a:p>
            <a:pPr>
              <a:spcBef>
                <a:spcPts val="8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  •  Spool cleanup on cadence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  •  Transport log archiving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  •  Temp table purge with safety thresholds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  •  DB growth trending via Satellite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Less noise. Smaller backups. Lower spend.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The boring work that saves the most money.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400" dirty="0" b="1">
                <a:latin typeface="Red Hat Display"/>
                <a:solidFill>
                  <a:srgbClr val="EE0000"/>
                </a:solidFill>
              </a:rPr>
              <a:t>SIMPLIFY  ·  </a:t>
            </a:r>
            <a:r>
              <a:rPr lang="en-US" sz="4400" dirty="0" b="1">
                <a:latin typeface="Red Hat Display"/>
                <a:solidFill>
                  <a:srgbClr val="FFFFFF"/>
                </a:solidFill>
              </a:rPr>
              <a:t>Automation Across the Migration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400000"/>
            <a:ext cx="563470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E0000"/>
                </a:solidFill>
              </a:rPr>
              <a:t>BEFORE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200" dirty="0" b="1">
                <a:latin typeface="Red Hat Display"/>
                <a:solidFill>
                  <a:srgbClr val="FFFFFF"/>
                </a:solidFill>
              </a:rPr>
              <a:t>Discovery &amp; baseline</a:t>
            </a:r>
            <a:endParaRPr/>
          </a:p>
          <a:p>
            <a:pPr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Inventory every system.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Validate kernel params.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Capture SAP Note compliance.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Baseline HA config.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/>
            <a:r>
              <a:rPr lang="en-US" sz="1600" dirty="0">
                <a:latin typeface="Red Hat Mono"/>
                <a:solidFill>
                  <a:srgbClr val="00D26A"/>
                </a:solidFill>
              </a:rPr>
              <a:t>ansible-playbook</a:t>
            </a:r>
            <a:endParaRPr/>
          </a:p>
          <a:p>
            <a:pPr/>
            <a:r>
              <a:rPr lang="en-US" sz="1600" dirty="0">
                <a:latin typeface="Red Hat Mono"/>
                <a:solidFill>
                  <a:srgbClr val="00D26A"/>
                </a:solidFill>
              </a:rPr>
              <a:t>  sap_discovery.yml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34700" y="2400000"/>
            <a:ext cx="563470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DURING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200" dirty="0" b="1">
                <a:latin typeface="Red Hat Display"/>
                <a:solidFill>
                  <a:srgbClr val="FFFFFF"/>
                </a:solidFill>
              </a:rPr>
              <a:t>Cutover &amp; validation</a:t>
            </a:r>
            <a:endParaRPr/>
          </a:p>
          <a:p>
            <a:pPr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Automated pre-checks.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OS + SAP config drift detection.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Post-migration smoke tests.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HA failover verification.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/>
            <a:r>
              <a:rPr lang="en-US" sz="1600" dirty="0">
                <a:latin typeface="Red Hat Mono"/>
                <a:solidFill>
                  <a:srgbClr val="00D26A"/>
                </a:solidFill>
              </a:rPr>
              <a:t>ansible-playbook</a:t>
            </a:r>
            <a:endParaRPr/>
          </a:p>
          <a:p>
            <a:pPr/>
            <a:r>
              <a:rPr lang="en-US" sz="1600" dirty="0">
                <a:latin typeface="Red Hat Mono"/>
                <a:solidFill>
                  <a:srgbClr val="00D26A"/>
                </a:solidFill>
              </a:rPr>
              <a:t>  sap_migrate_validate.yml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69400" y="2400000"/>
            <a:ext cx="563470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0E0E0"/>
                </a:solidFill>
              </a:rPr>
              <a:t>AFTER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200" dirty="0" b="1">
                <a:latin typeface="Red Hat Display"/>
                <a:solidFill>
                  <a:srgbClr val="FFFFFF"/>
                </a:solidFill>
              </a:rPr>
              <a:t>Steady-state ops</a:t>
            </a:r>
            <a:endParaRPr/>
          </a:p>
          <a:p>
            <a:pPr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Continuous compliance scans.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Patch cadence enforcement.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Housekeeping on schedule.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Drift alerts, not surprises.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/>
            <a:r>
              <a:rPr lang="en-US" sz="1600" dirty="0">
                <a:latin typeface="Red Hat Mono"/>
                <a:solidFill>
                  <a:srgbClr val="00D26A"/>
                </a:solidFill>
              </a:rPr>
              <a:t>ansible-playbook</a:t>
            </a:r>
            <a:endParaRPr/>
          </a:p>
          <a:p>
            <a:pPr/>
            <a:r>
              <a:rPr lang="en-US" sz="1600" dirty="0">
                <a:latin typeface="Red Hat Mono"/>
                <a:solidFill>
                  <a:srgbClr val="00D26A"/>
                </a:solidFill>
              </a:rPr>
              <a:t>  sap_day2_ops.yml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Same playbooks. AnyPrem, cloud, and RISE.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400" dirty="0" b="1">
                <a:latin typeface="Red Hat Display"/>
                <a:solidFill>
                  <a:srgbClr val="EE0000"/>
                </a:solidFill>
              </a:rPr>
              <a:t>SIMPLIFY  ·  </a:t>
            </a:r>
            <a:r>
              <a:rPr lang="en-US" sz="4400" dirty="0" b="1">
                <a:latin typeface="Red Hat Display"/>
                <a:solidFill>
                  <a:srgbClr val="FFFFFF"/>
                </a:solidFill>
              </a:rPr>
              <a:t>Your Tools. Now AI-Enhanced.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400000"/>
            <a:ext cx="9737255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Ansible Lightspeed</a:t>
            </a:r>
            <a:endParaRPr/>
          </a:p>
          <a:p>
            <a:pPr>
              <a:spcBef>
                <a:spcPts val="800"/>
              </a:spcBef>
            </a:pPr>
            <a:r>
              <a:rPr lang="en-US" sz="2200" dirty="0" b="1">
                <a:latin typeface="Red Hat Display"/>
                <a:solidFill>
                  <a:srgbClr val="FFFFFF"/>
                </a:solidFill>
              </a:rPr>
              <a:t>Describe the task. Get the playbook.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watsonx-powered. Context-aware. Inline in VS Code.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Your Basis team writes automation in plain English.</a:t>
            </a:r>
            <a:endParaRPr/>
          </a:p>
          <a:p>
            <a:pPr>
              <a:spcBef>
                <a:spcPts val="280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Red Hat Lightspeed</a:t>
            </a:r>
            <a:endParaRPr/>
          </a:p>
          <a:p>
            <a:pPr>
              <a:spcBef>
                <a:spcPts val="800"/>
              </a:spcBef>
            </a:pPr>
            <a:r>
              <a:rPr lang="en-US" sz="2200" dirty="0" b="1">
                <a:latin typeface="Red Hat Display"/>
                <a:solidFill>
                  <a:srgbClr val="FFFFFF"/>
                </a:solidFill>
              </a:rPr>
              <a:t>AI-powered management. CVE to remediation.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Advisor. Compliance. Patch. Policies.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Proactive, not reactive.</a:t>
            </a:r>
            <a:endParaRPr/>
          </a:p>
          <a:p>
            <a:pPr>
              <a:spcBef>
                <a:spcPts val="280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Red Hat Satellite</a:t>
            </a:r>
            <a:endParaRPr/>
          </a:p>
          <a:p>
            <a:pPr>
              <a:spcBef>
                <a:spcPts val="800"/>
              </a:spcBef>
            </a:pPr>
            <a:r>
              <a:rPr lang="en-US" sz="2200" dirty="0" b="1">
                <a:latin typeface="Red Hat Display"/>
                <a:solidFill>
                  <a:srgbClr val="FFFFFF"/>
                </a:solidFill>
              </a:rPr>
              <a:t>Lifecycle management. Every landscape.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Content views. Patch promotion. Compliance reporting.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7255" y="2400000"/>
            <a:ext cx="7566845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 b="1">
                <a:latin typeface="Red Hat Display"/>
                <a:solidFill>
                  <a:srgbClr val="FFFFFF"/>
                </a:solidFill>
              </a:rPr>
              <a:t>All included in your</a:t>
            </a:r>
            <a:endParaRPr/>
          </a:p>
          <a:p>
            <a:pPr>
              <a:spcBef>
                <a:spcPts val="400"/>
              </a:spcBef>
            </a:pPr>
            <a:r>
              <a:rPr lang="en-US" sz="2800" dirty="0" b="1">
                <a:latin typeface="Red Hat Display"/>
                <a:solidFill>
                  <a:srgbClr val="FFFFFF"/>
                </a:solidFill>
              </a:rPr>
              <a:t>RHEL subscription.</a:t>
            </a:r>
            <a:endParaRPr/>
          </a:p>
          <a:p>
            <a:pPr>
              <a:spcBef>
                <a:spcPts val="40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This isn’t a new stack.</a:t>
            </a:r>
            <a:endParaRPr/>
          </a:p>
          <a:p>
            <a:pPr>
              <a:spcBef>
                <a:spcPts val="60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It’s your stack —</a:t>
            </a:r>
            <a:endParaRPr/>
          </a:p>
          <a:p>
            <a:pPr>
              <a:spcBef>
                <a:spcPts val="600"/>
              </a:spcBef>
            </a:pPr>
            <a:r>
              <a:rPr lang="en-US" sz="2800" dirty="0" b="1">
                <a:latin typeface="Red Hat Display"/>
                <a:solidFill>
                  <a:srgbClr val="EE0000"/>
                </a:solidFill>
              </a:rPr>
              <a:t>upgraded.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Lightspeed finds it. Satellite enforces it. Ansible fixes it.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400" dirty="0" b="1">
                <a:latin typeface="Red Hat Display"/>
                <a:solidFill>
                  <a:srgbClr val="EE0000"/>
                </a:solidFill>
              </a:rPr>
              <a:t>REGULATE  ·  </a:t>
            </a:r>
            <a:r>
              <a:rPr lang="en-US" sz="4400" dirty="0" b="1">
                <a:latin typeface="Red Hat Display"/>
                <a:solidFill>
                  <a:srgbClr val="FFFFFF"/>
                </a:solidFill>
              </a:rPr>
              <a:t>Compliance Runs Continuously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THE AUDIT TRAIL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600" dirty="0" b="1">
                <a:latin typeface="Red Hat Display"/>
                <a:solidFill>
                  <a:srgbClr val="FFFFFF"/>
                </a:solidFill>
              </a:rPr>
              <a:t>Policy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Defined in Git. Versioned. Reviewed.</a:t>
            </a:r>
            <a:endParaRPr/>
          </a:p>
          <a:p>
            <a:pPr>
              <a:spcBef>
                <a:spcPts val="800"/>
              </a:spcBef>
            </a:pPr>
            <a:r>
              <a:rPr lang="en-US" sz="2400" dirty="0">
                <a:latin typeface="Red Hat Text"/>
                <a:solidFill>
                  <a:srgbClr val="9B9B9B"/>
                </a:solidFill>
              </a:rPr>
              <a:t>  ↓</a:t>
            </a:r>
            <a:endParaRPr/>
          </a:p>
          <a:p>
            <a:pPr>
              <a:spcBef>
                <a:spcPts val="0"/>
              </a:spcBef>
            </a:pPr>
            <a:r>
              <a:rPr lang="en-US" sz="2600" dirty="0" b="1">
                <a:latin typeface="Red Hat Display"/>
                <a:solidFill>
                  <a:srgbClr val="FFFFFF"/>
                </a:solidFill>
              </a:rPr>
              <a:t>Scan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OpenSCAP + Red Hat Lightspeed. Continuous.</a:t>
            </a:r>
            <a:endParaRPr/>
          </a:p>
          <a:p>
            <a:pPr>
              <a:spcBef>
                <a:spcPts val="800"/>
              </a:spcBef>
            </a:pPr>
            <a:r>
              <a:rPr lang="en-US" sz="2400" dirty="0">
                <a:latin typeface="Red Hat Text"/>
                <a:solidFill>
                  <a:srgbClr val="9B9B9B"/>
                </a:solidFill>
              </a:rPr>
              <a:t>  ↓</a:t>
            </a:r>
            <a:endParaRPr/>
          </a:p>
          <a:p>
            <a:pPr>
              <a:spcBef>
                <a:spcPts val="0"/>
              </a:spcBef>
            </a:pPr>
            <a:r>
              <a:rPr lang="en-US" sz="2600" dirty="0" b="1">
                <a:latin typeface="Red Hat Display"/>
                <a:solidFill>
                  <a:srgbClr val="FFFFFF"/>
                </a:solidFill>
              </a:rPr>
              <a:t>Remediate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Ansible executes. Automatically.</a:t>
            </a:r>
            <a:endParaRPr/>
          </a:p>
          <a:p>
            <a:pPr>
              <a:spcBef>
                <a:spcPts val="800"/>
              </a:spcBef>
            </a:pPr>
            <a:r>
              <a:rPr lang="en-US" sz="2400" dirty="0">
                <a:latin typeface="Red Hat Text"/>
                <a:solidFill>
                  <a:srgbClr val="9B9B9B"/>
                </a:solidFill>
              </a:rPr>
              <a:t>  ↓</a:t>
            </a:r>
            <a:endParaRPr/>
          </a:p>
          <a:p>
            <a:pPr>
              <a:spcBef>
                <a:spcPts val="0"/>
              </a:spcBef>
            </a:pPr>
            <a:r>
              <a:rPr lang="en-US" sz="2600" dirty="0" b="1">
                <a:latin typeface="Red Hat Display"/>
                <a:solidFill>
                  <a:srgbClr val="00D26A"/>
                </a:solidFill>
              </a:rPr>
              <a:t>Prove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Git log. Timestamp. Immutable.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5205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0E0E0"/>
                </a:solidFill>
              </a:rPr>
              <a:t>~20 COMPLIANCE PROFILES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FFFFFF"/>
                </a:solidFill>
              </a:rPr>
              <a:t>DISA STIG</a:t>
            </a:r>
            <a:endParaRPr/>
          </a:p>
          <a:p>
            <a:pPr>
              <a:spcBef>
                <a:spcPts val="1000"/>
              </a:spcBef>
            </a:pPr>
            <a:r>
              <a:rPr lang="en-US" sz="1800" dirty="0" b="1">
                <a:latin typeface="Red Hat Mono"/>
                <a:solidFill>
                  <a:srgbClr val="FFFFFF"/>
                </a:solidFill>
              </a:rPr>
              <a:t>CIS Benchmarks</a:t>
            </a:r>
            <a:endParaRPr/>
          </a:p>
          <a:p>
            <a:pPr>
              <a:spcBef>
                <a:spcPts val="1000"/>
              </a:spcBef>
            </a:pPr>
            <a:r>
              <a:rPr lang="en-US" sz="1800" dirty="0" b="1">
                <a:latin typeface="Red Hat Mono"/>
                <a:solidFill>
                  <a:srgbClr val="FFFFFF"/>
                </a:solidFill>
              </a:rPr>
              <a:t>PCI DSS v4</a:t>
            </a:r>
            <a:endParaRPr/>
          </a:p>
          <a:p>
            <a:pPr>
              <a:spcBef>
                <a:spcPts val="1000"/>
              </a:spcBef>
            </a:pPr>
            <a:r>
              <a:rPr lang="en-US" sz="1800" dirty="0" b="1">
                <a:latin typeface="Red Hat Mono"/>
                <a:solidFill>
                  <a:srgbClr val="FFFFFF"/>
                </a:solidFill>
              </a:rPr>
              <a:t>HIPAA</a:t>
            </a:r>
            <a:endParaRPr/>
          </a:p>
          <a:p>
            <a:pPr>
              <a:spcBef>
                <a:spcPts val="1000"/>
              </a:spcBef>
            </a:pPr>
            <a:r>
              <a:rPr lang="en-US" sz="1800" dirty="0" b="1">
                <a:latin typeface="Red Hat Mono"/>
                <a:solidFill>
                  <a:srgbClr val="FFFFFF"/>
                </a:solidFill>
              </a:rPr>
              <a:t>NERC CIP</a:t>
            </a:r>
            <a:endParaRPr/>
          </a:p>
          <a:p>
            <a:pPr>
              <a:spcBef>
                <a:spcPts val="1000"/>
              </a:spcBef>
            </a:pPr>
            <a:r>
              <a:rPr lang="en-US" sz="1800" dirty="0" b="1">
                <a:latin typeface="Red Hat Mono"/>
                <a:solidFill>
                  <a:srgbClr val="FFFFFF"/>
                </a:solidFill>
              </a:rPr>
              <a:t>NIST 800-53</a:t>
            </a:r>
            <a:endParaRPr/>
          </a:p>
          <a:p>
            <a:pPr>
              <a:spcBef>
                <a:spcPts val="1000"/>
              </a:spcBef>
            </a:pPr>
            <a:r>
              <a:rPr lang="en-US" sz="1800" dirty="0" b="1">
                <a:latin typeface="Red Hat Mono"/>
                <a:solidFill>
                  <a:srgbClr val="FFFFFF"/>
                </a:solidFill>
              </a:rPr>
              <a:t>SOX</a:t>
            </a:r>
            <a:endParaRPr/>
          </a:p>
          <a:p>
            <a:pPr>
              <a:spcBef>
                <a:spcPts val="1000"/>
              </a:spcBef>
            </a:pPr>
            <a:r>
              <a:rPr lang="en-US" sz="1800" dirty="0" b="1">
                <a:latin typeface="Red Hat Mono"/>
                <a:solidFill>
                  <a:srgbClr val="FFFFFF"/>
                </a:solidFill>
              </a:rPr>
              <a:t>FedRAMP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FIPS 140-3 validated.</a:t>
            </a:r>
            <a:endParaRPr/>
          </a:p>
          <a:p>
            <a:pPr>
              <a:spcBef>
                <a:spcPts val="6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EAL4+ Common Criteria certified.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000" dirty="0">
                <a:latin typeface="Red Hat Text"/>
                <a:solidFill>
                  <a:srgbClr val="FFFFFF"/>
                </a:solidFill>
              </a:rPr>
              <a:t>Built into RHEL. Not bolted on.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Your auditor wants proof. Git log. Pull request. Timestamp. Done.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800" dirty="0" b="1">
                <a:latin typeface="Red Hat Display"/>
                <a:solidFill>
                  <a:srgbClr val="FFFFFF"/>
                </a:solidFill>
              </a:rPr>
              <a:t>What This Foundation Unlocks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400" dirty="0">
                <a:latin typeface="Red Hat Text"/>
                <a:solidFill>
                  <a:srgbClr val="E0E0E0"/>
                </a:solidFill>
              </a:rPr>
              <a:t>Once your SAP core is steady —</a:t>
            </a:r>
            <a:endParaRPr/>
          </a:p>
          <a:p>
            <a:pPr>
              <a:spcBef>
                <a:spcPts val="600"/>
              </a:spcBef>
            </a:pPr>
            <a:r>
              <a:rPr lang="en-US" sz="2400" dirty="0">
                <a:latin typeface="Red Hat Text"/>
                <a:solidFill>
                  <a:srgbClr val="E0E0E0"/>
                </a:solidFill>
              </a:rPr>
              <a:t>consistent builds, predictable patches,</a:t>
            </a:r>
            <a:endParaRPr/>
          </a:p>
          <a:p>
            <a:pPr>
              <a:spcBef>
                <a:spcPts val="600"/>
              </a:spcBef>
            </a:pPr>
            <a:r>
              <a:rPr lang="en-US" sz="2400" dirty="0">
                <a:latin typeface="Red Hat Text"/>
                <a:solidFill>
                  <a:srgbClr val="E0E0E0"/>
                </a:solidFill>
              </a:rPr>
              <a:t>tested HA, clean data —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800" dirty="0" b="1">
                <a:latin typeface="Red Hat Display"/>
                <a:solidFill>
                  <a:srgbClr val="FFFFFF"/>
                </a:solidFill>
              </a:rPr>
              <a:t>AI is just another workload.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RHEL AI. GPU-ready kernels.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InstructLab model training.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OpenShift AI inference at scale.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latin typeface="Red Hat Text"/>
                <a:solidFill>
                  <a:srgbClr val="E0E0E0"/>
                </a:solidFill>
              </a:rPr>
              <a:t>Same OS. Same support. Same team.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5205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E0000"/>
                </a:solidFill>
              </a:rPr>
              <a:t>NVIDIA + RED HAT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4800" dirty="0">
                <a:latin typeface="Red Hat Display"/>
                <a:solidFill>
                  <a:srgbClr val="9B9B9B"/>
                </a:solidFill>
              </a:rPr>
              <a:t>“</a:t>
            </a:r>
            <a:r>
              <a:rPr lang="en-US" sz="1800" dirty="0">
                <a:latin typeface="Red Hat Text"/>
                <a:solidFill>
                  <a:srgbClr val="FFFFFF"/>
                </a:solidFill>
              </a:rPr>
              <a:t>Together, NVIDIA and Red Hat are industrializing</a:t>
            </a:r>
            <a:endParaRPr/>
          </a:p>
          <a:p>
            <a:pPr>
              <a:spcBef>
                <a:spcPts val="2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open source to bring AI to the enterprise.”</a:t>
            </a:r>
            <a:endParaRPr/>
          </a:p>
          <a:p>
            <a:pPr>
              <a:spcBef>
                <a:spcPts val="2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/>
            </a:r>
            <a:endParaRPr/>
          </a:p>
          <a:p>
            <a:pPr>
              <a:spcBef>
                <a:spcPts val="2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/>
            </a:r>
            <a:endParaRPr/>
          </a:p>
          <a:p>
            <a:pPr>
              <a:spcBef>
                <a:spcPts val="2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Together, NVIDIA and Red Hat are industrializing</a:t>
            </a:r>
            <a:endParaRPr/>
          </a:p>
          <a:p>
            <a:pPr>
              <a:spcBef>
                <a:spcPts val="2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open source to bring AI to the enterprise.”</a:t>
            </a:r>
            <a:endParaRPr/>
          </a:p>
          <a:p>
            <a:pPr>
              <a:spcBef>
                <a:spcPts val="12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1600" dirty="0" b="1">
                <a:latin typeface="Red Hat Mono"/>
                <a:solidFill>
                  <a:srgbClr val="E0E0E0"/>
                </a:solidFill>
              </a:rPr>
              <a:t>— Jensen Huang, CEO, NVIDIA</a:t>
            </a:r>
            <a:endParaRPr/>
          </a:p>
          <a:p>
            <a:pPr>
              <a:spcBef>
                <a:spcPts val="16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DAY 0 VERA RUBIN SUPPORT</a:t>
            </a:r>
            <a:endParaRPr/>
          </a:p>
          <a:p>
            <a:pPr>
              <a:spcBef>
                <a:spcPts val="600"/>
              </a:spcBef>
            </a:pPr>
            <a:r>
              <a:rPr lang="en-US" sz="1600" dirty="0">
                <a:latin typeface="Red Hat Text"/>
                <a:solidFill>
                  <a:srgbClr val="E0E0E0"/>
                </a:solidFill>
              </a:rPr>
              <a:t>Announced H2 2026.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The foundation does not change. The workload does.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600000"/>
            <a:ext cx="177041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800" dirty="0" b="1">
                <a:latin typeface="Red Hat Display"/>
                <a:solidFill>
                  <a:srgbClr val="FFFFFF"/>
                </a:solidFill>
              </a:rPr>
              <a:t>Your 30-Day Stabilization Checklist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000" y="2040000"/>
            <a:ext cx="17704100" cy="24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2050" y="2400000"/>
            <a:ext cx="6000" cy="615000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000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00D26A"/>
                </a:solidFill>
              </a:rPr>
              <a:t>WEEK 1–2</a:t>
            </a:r>
            <a:endParaRPr/>
          </a:p>
          <a:p>
            <a:pPr>
              <a:spcBef>
                <a:spcPts val="10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Inventory all RHEL versions across SAP landscapes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Identify unpatched systems (&gt; 90 days)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Verify HA failover — actually test it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Measure spool/temp table sizes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Document current patch cadence (or lack of one)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52050" y="2400000"/>
            <a:ext cx="8652050" cy="8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 b="1">
                <a:latin typeface="Red Hat Mono"/>
                <a:solidFill>
                  <a:srgbClr val="E0E0E0"/>
                </a:solidFill>
              </a:rPr>
              <a:t>WEEK 3–4</a:t>
            </a:r>
            <a:endParaRPr/>
          </a:p>
          <a:p>
            <a:pPr>
              <a:spcBef>
                <a:spcPts val="10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/>
            </a:r>
            <a:endParaRPr/>
          </a:p>
          <a:p>
            <a:pPr>
              <a:spcBef>
                <a:spcPts val="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Standardize RHEL build (one golden image)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Schedule first automated housekeeping run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Enable Kernel Live Patching on production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Run one OpenSCAP compliance scan</a:t>
            </a:r>
            <a:endParaRPr/>
          </a:p>
          <a:p>
            <a:pPr>
              <a:spcBef>
                <a:spcPts val="1000"/>
              </a:spcBef>
            </a:pPr>
            <a:r>
              <a:rPr lang="en-US" sz="2200" dirty="0">
                <a:latin typeface="Red Hat Display"/>
                <a:solidFill>
                  <a:srgbClr val="FFFFFF"/>
                </a:solidFill>
              </a:rPr>
              <a:t>☐</a:t>
            </a:r>
            <a:r>
              <a:rPr lang="en-US" sz="2000" dirty="0">
                <a:latin typeface="Red Hat Text"/>
                <a:solidFill>
                  <a:srgbClr val="E0E0E0"/>
                </a:solidFill>
              </a:rPr>
              <a:t>  Write your first Ansible playbook for SAP ops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0000" y="1040935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dirty="0">
                <a:latin typeface="Red Hat Mono"/>
                <a:solidFill>
                  <a:srgbClr val="00D26A"/>
                </a:solidFill>
              </a:rPr>
              <a:t>Vendor-neutral. Works with what you have today.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800000"/>
            <a:ext cx="177041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600" dirty="0" b="1">
                <a:latin typeface="Red Hat Display"/>
                <a:solidFill>
                  <a:srgbClr val="FFFFFF"/>
                </a:solidFill>
              </a:rPr>
              <a:t>Reliable SAP with Red Hat</a:t>
            </a:r>
            <a:endParaRPr/>
          </a:p>
          <a:p>
            <a:pPr algn="ctr">
              <a:spcBef>
                <a:spcPts val="400"/>
              </a:spcBef>
            </a:pPr>
            <a:r>
              <a:rPr lang="en-US" sz="5600" dirty="0" b="1">
                <a:latin typeface="Red Hat Display"/>
                <a:solidFill>
                  <a:srgbClr val="EE0000"/>
                </a:solidFill>
              </a:rPr>
              <a:t>Run &amp; Simplify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0000" y="3200000"/>
            <a:ext cx="56347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800" dirty="0" b="1">
                <a:latin typeface="Red Hat Display"/>
                <a:solidFill>
                  <a:srgbClr val="EE0000"/>
                </a:solidFill>
              </a:rPr>
              <a:t>1</a:t>
            </a:r>
            <a:endParaRPr/>
          </a:p>
          <a:p>
            <a:pPr>
              <a:spcBef>
                <a:spcPts val="120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Steadier day-2 ops.</a:t>
            </a:r>
            <a:endParaRPr/>
          </a:p>
          <a:p>
            <a:pPr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Consistent builds. Predictable patches.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HA that’s tested, not assumed.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Housekeeping on schedule.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34700" y="3200000"/>
            <a:ext cx="56347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800" dirty="0" b="1">
                <a:latin typeface="Red Hat Display"/>
                <a:solidFill>
                  <a:srgbClr val="EE0000"/>
                </a:solidFill>
              </a:rPr>
              <a:t>2</a:t>
            </a:r>
            <a:endParaRPr/>
          </a:p>
          <a:p>
            <a:pPr>
              <a:spcBef>
                <a:spcPts val="120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Migration-safe maintenance.</a:t>
            </a:r>
            <a:endParaRPr/>
          </a:p>
          <a:p>
            <a:pPr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Automation before, during, after.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Same playbooks across AnyPrem,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cloud, and RISE.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69400" y="3200000"/>
            <a:ext cx="56347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4800" dirty="0" b="1">
                <a:latin typeface="Red Hat Display"/>
                <a:solidFill>
                  <a:srgbClr val="EE0000"/>
                </a:solidFill>
              </a:rPr>
              <a:t>3</a:t>
            </a:r>
            <a:endParaRPr/>
          </a:p>
          <a:p>
            <a:pPr>
              <a:spcBef>
                <a:spcPts val="1200"/>
              </a:spcBef>
            </a:pPr>
            <a:r>
              <a:rPr lang="en-US" sz="2400" dirty="0" b="1">
                <a:latin typeface="Red Hat Display"/>
                <a:solidFill>
                  <a:srgbClr val="FFFFFF"/>
                </a:solidFill>
              </a:rPr>
              <a:t>Measurable time &amp; cost savings.</a:t>
            </a:r>
            <a:endParaRPr/>
          </a:p>
          <a:p>
            <a:pPr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Fewer weekend fire drills.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Smaller backup windows.</a:t>
            </a:r>
            <a:endParaRPr/>
          </a:p>
          <a:p>
            <a:pPr>
              <a:spcBef>
                <a:spcPts val="400"/>
              </a:spcBef>
            </a:pPr>
            <a:r>
              <a:rPr lang="en-US" sz="1800" dirty="0">
                <a:latin typeface="Red Hat Text"/>
                <a:solidFill>
                  <a:srgbClr val="E0E0E0"/>
                </a:solidFill>
              </a:rPr>
              <a:t>Audit-ready without audit panic.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0000" y="7200000"/>
            <a:ext cx="177041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Red Hat Mono"/>
                <a:solidFill>
                  <a:srgbClr val="9B9B9B"/>
                </a:solidFill>
              </a:rPr>
              <a:t>jodonnell@redhat.com  ·  linkedin.com/in/jimodonnell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8000000"/>
            <a:ext cx="20104100" cy="2000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8200000"/>
            <a:ext cx="6701366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b="1">
                <a:latin typeface="Red Hat Mono"/>
                <a:solidFill>
                  <a:srgbClr val="00D26A"/>
                </a:solidFill>
              </a:rPr>
              <a:t>NEXT SESSION</a:t>
            </a:r>
            <a:endParaRPr/>
          </a:p>
          <a:p>
            <a:pPr algn="ctr"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>Run • Simplify • Expand</a:t>
            </a:r>
            <a:endParaRPr/>
          </a:p>
          <a:p>
            <a:pPr algn="ctr">
              <a:spcBef>
                <a:spcPts val="400"/>
              </a:spcBef>
            </a:pPr>
            <a:r>
              <a:rPr lang="en-US" sz="1600" dirty="0">
                <a:latin typeface="Red Hat Text"/>
                <a:solidFill>
                  <a:srgbClr val="FFFFFF"/>
                </a:solidFill>
              </a:rPr>
              <a:t>Interactive Edge Integration Demo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01366" y="8200000"/>
            <a:ext cx="6701366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b="1">
                <a:latin typeface="Red Hat Mono"/>
                <a:solidFill>
                  <a:srgbClr val="00D26A"/>
                </a:solidFill>
              </a:rPr>
              <a:t>VISIT</a:t>
            </a:r>
            <a:endParaRPr/>
          </a:p>
          <a:p>
            <a:pPr algn="ctr"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>Red Hat booth</a:t>
            </a:r>
            <a:endParaRPr/>
          </a:p>
          <a:p>
            <a:pPr algn="ctr">
              <a:spcBef>
                <a:spcPts val="400"/>
              </a:spcBef>
            </a:pPr>
            <a:r>
              <a:rPr lang="en-US" sz="1600" dirty="0">
                <a:latin typeface="Red Hat Text"/>
                <a:solidFill>
                  <a:srgbClr val="FFFFFF"/>
                </a:solidFill>
              </a:rPr>
              <a:t>Live demo running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02732" y="8200000"/>
            <a:ext cx="6701366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b="1">
                <a:latin typeface="Red Hat Mono"/>
                <a:solidFill>
                  <a:srgbClr val="00D26A"/>
                </a:solidFill>
              </a:rPr>
              <a:t>RATE THIS SESSION</a:t>
            </a:r>
            <a:endParaRPr/>
          </a:p>
          <a:p>
            <a:pPr algn="ctr">
              <a:spcBef>
                <a:spcPts val="800"/>
              </a:spcBef>
            </a:pPr>
            <a:r>
              <a:rPr lang="en-US" sz="1800" dirty="0">
                <a:latin typeface="Red Hat Text"/>
                <a:solidFill>
                  <a:srgbClr val="FFFFFF"/>
                </a:solidFill>
              </a:rPr>
              <a:t>Session evaluation</a:t>
            </a:r>
            <a:endParaRPr/>
          </a:p>
          <a:p>
            <a:pPr algn="ctr">
              <a:spcBef>
                <a:spcPts val="400"/>
              </a:spcBef>
            </a:pPr>
            <a:r>
              <a:rPr lang="en-US" sz="1600" dirty="0">
                <a:latin typeface="Red Hat Text"/>
                <a:solidFill>
                  <a:srgbClr val="FFFFFF"/>
                </a:solidFill>
              </a:rPr>
              <a:t>Link in the app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01366" y="8300000"/>
            <a:ext cx="3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402732" y="8300000"/>
            <a:ext cx="3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1109350"/>
            <a:ext cx="20104100" cy="2000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Pinsider Palette0624">
      <a:dk1>
        <a:srgbClr val="000000"/>
      </a:dk1>
      <a:lt1>
        <a:srgbClr val="FFFFFF"/>
      </a:lt1>
      <a:dk2>
        <a:srgbClr val="1B0A66"/>
      </a:dk2>
      <a:lt2>
        <a:srgbClr val="E2E3E8"/>
      </a:lt2>
      <a:accent1>
        <a:srgbClr val="10069F"/>
      </a:accent1>
      <a:accent2>
        <a:srgbClr val="0524DD"/>
      </a:accent2>
      <a:accent3>
        <a:srgbClr val="0063F2"/>
      </a:accent3>
      <a:accent4>
        <a:srgbClr val="00B9F2"/>
      </a:accent4>
      <a:accent5>
        <a:srgbClr val="DEAC1B"/>
      </a:accent5>
      <a:accent6>
        <a:srgbClr val="FF671F"/>
      </a:accent6>
      <a:hlink>
        <a:srgbClr val="0524DD"/>
      </a:hlink>
      <a:folHlink>
        <a:srgbClr val="0524DD"/>
      </a:folHlink>
    </a:clrScheme>
    <a:fontScheme name="ArialNova">
      <a:majorFont>
        <a:latin typeface="Arial Nova Bold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Pinsider_PrstnTemplate_All_CP" id="{B0BACFE0-929D-4E4B-AA90-E6324F93A13B}" vid="{B0E776D9-0F06-FF4C-A163-5407AF31C50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751</Words>
  <Application>Microsoft Macintosh PowerPoint</Application>
  <PresentationFormat>Custom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Nova</vt:lpstr>
      <vt:lpstr>Franklin Gothic Medium</vt:lpstr>
      <vt:lpstr>Inter Light</vt:lpstr>
      <vt:lpstr>Inter SemiBold</vt:lpstr>
      <vt:lpstr>System Font Regular</vt:lpstr>
      <vt:lpstr>Wingdings</vt:lpstr>
      <vt:lpstr>Office Theme</vt:lpstr>
      <vt:lpstr>Before Submitting Your Session: Important Pre-Submission Checklist</vt:lpstr>
      <vt:lpstr>SAPinsider Color Palette</vt:lpstr>
      <vt:lpstr>Icons</vt:lpstr>
      <vt:lpstr>PowerPoint Presentation</vt:lpstr>
      <vt:lpstr>Session Title Goes Here  and is Aligned to the Bottom</vt:lpstr>
      <vt:lpstr>PowerPoint Presentation</vt:lpstr>
      <vt:lpstr>PowerPoint Presentation</vt:lpstr>
      <vt:lpstr>Topic One</vt:lpstr>
      <vt:lpstr>Title of Chart</vt:lpstr>
      <vt:lpstr>PowerPoint Presentation</vt:lpstr>
      <vt:lpstr>Where to Find More Information</vt:lpstr>
      <vt:lpstr>Key Points to Take Home</vt:lpstr>
      <vt:lpstr>Please remember to complete your session evaluation.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2026-01-14T17:49:05Z</dcterms:created>
  <dcterms:modified xsi:type="dcterms:W3CDTF">2026-01-14T17:50:09Z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2024-06-19T00:00:00Z</vt:filetime>
  </property>
  <property fmtid="{D5CDD505-2E9C-101B-9397-08002B2CF9AE}" pid="3" name="Creator">
    <vt:lpwstr>Adobe InDesign 19.4 (Macintosh)</vt:lpwstr>
  </property>
  <property fmtid="{D5CDD505-2E9C-101B-9397-08002B2CF9AE}" pid="4" name="LastSaved">
    <vt:filetime>2024-06-19T00:00:00Z</vt:filetime>
  </property>
  <property fmtid="{D5CDD505-2E9C-101B-9397-08002B2CF9AE}" pid="5" name="Producer">
    <vt:lpwstr>Adobe PDF Library 17.0</vt:lpwstr>
  </property>
</Properties>
</file>